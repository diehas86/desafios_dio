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257" r:id="rId3"/>
    <p:sldId id="268" r:id="rId4"/>
    <p:sldId id="270" r:id="rId5"/>
    <p:sldId id="269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9" r:id="rId14"/>
    <p:sldId id="280" r:id="rId15"/>
    <p:sldId id="281" r:id="rId16"/>
    <p:sldId id="282" r:id="rId17"/>
    <p:sldId id="283" r:id="rId18"/>
    <p:sldId id="284" r:id="rId19"/>
    <p:sldId id="258" r:id="rId20"/>
    <p:sldId id="278" r:id="rId21"/>
    <p:sldId id="259" r:id="rId22"/>
    <p:sldId id="260" r:id="rId23"/>
    <p:sldId id="267" r:id="rId24"/>
    <p:sldId id="261" r:id="rId25"/>
    <p:sldId id="266" r:id="rId26"/>
    <p:sldId id="262" r:id="rId27"/>
    <p:sldId id="263" r:id="rId28"/>
    <p:sldId id="264" r:id="rId29"/>
    <p:sldId id="265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B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4660"/>
  </p:normalViewPr>
  <p:slideViewPr>
    <p:cSldViewPr snapToGrid="0">
      <p:cViewPr>
        <p:scale>
          <a:sx n="100" d="100"/>
          <a:sy n="100" d="100"/>
        </p:scale>
        <p:origin x="115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E7986-23B1-480F-A367-739BB9E7B172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6DDA87-0693-43C7-906F-3211D015A3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1599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6DDA87-0693-43C7-906F-3211D015A383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5239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DB4D8-8A9C-4C14-A535-9C2C92159C2F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3FA47-CAA0-4361-BACA-0363FADA2D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7573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DB4D8-8A9C-4C14-A535-9C2C92159C2F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3FA47-CAA0-4361-BACA-0363FADA2D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43815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DB4D8-8A9C-4C14-A535-9C2C92159C2F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3FA47-CAA0-4361-BACA-0363FADA2D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46296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DB4D8-8A9C-4C14-A535-9C2C92159C2F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3FA47-CAA0-4361-BACA-0363FADA2D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80217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DB4D8-8A9C-4C14-A535-9C2C92159C2F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3FA47-CAA0-4361-BACA-0363FADA2D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415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DB4D8-8A9C-4C14-A535-9C2C92159C2F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3FA47-CAA0-4361-BACA-0363FADA2D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16672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DB4D8-8A9C-4C14-A535-9C2C92159C2F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3FA47-CAA0-4361-BACA-0363FADA2D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48281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DB4D8-8A9C-4C14-A535-9C2C92159C2F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3FA47-CAA0-4361-BACA-0363FADA2D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745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DB4D8-8A9C-4C14-A535-9C2C92159C2F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3FA47-CAA0-4361-BACA-0363FADA2D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99350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DB4D8-8A9C-4C14-A535-9C2C92159C2F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3FA47-CAA0-4361-BACA-0363FADA2D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2954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DB4D8-8A9C-4C14-A535-9C2C92159C2F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3FA47-CAA0-4361-BACA-0363FADA2D5D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78130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DB4D8-8A9C-4C14-A535-9C2C92159C2F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3FA47-CAA0-4361-BACA-0363FADA2D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201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DB4D8-8A9C-4C14-A535-9C2C92159C2F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3FA47-CAA0-4361-BACA-0363FADA2D5D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1479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DB4D8-8A9C-4C14-A535-9C2C92159C2F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3FA47-CAA0-4361-BACA-0363FADA2D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02001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DB4D8-8A9C-4C14-A535-9C2C92159C2F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3FA47-CAA0-4361-BACA-0363FADA2D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46003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DB4D8-8A9C-4C14-A535-9C2C92159C2F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3FA47-CAA0-4361-BACA-0363FADA2D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9505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4DB4D8-8A9C-4C14-A535-9C2C92159C2F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343FA47-CAA0-4361-BACA-0363FADA2D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0514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E70C29-190B-A7E0-C80B-0327C5BDF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2860" y="-263107"/>
            <a:ext cx="45719" cy="45719"/>
          </a:xfrm>
          <a:ln>
            <a:noFill/>
          </a:ln>
        </p:spPr>
        <p:txBody>
          <a:bodyPr/>
          <a:lstStyle/>
          <a:p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DA252B-7954-4304-AE95-09135F86F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45057" y="2601119"/>
            <a:ext cx="9144000" cy="1655762"/>
          </a:xfrm>
        </p:spPr>
        <p:txBody>
          <a:bodyPr/>
          <a:lstStyle/>
          <a:p>
            <a:r>
              <a:rPr lang="pt-BR" dirty="0">
                <a:solidFill>
                  <a:schemeClr val="tx1"/>
                </a:solidFill>
              </a:rPr>
              <a:t>Processo de implementação de ferramentas AWS na empresa</a:t>
            </a:r>
          </a:p>
        </p:txBody>
      </p: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57671DA9-728B-E036-F934-882C469898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192" y="3113881"/>
            <a:ext cx="8269767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9463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DD2F140-7815-75B7-4C95-EB83D1713278}"/>
              </a:ext>
            </a:extLst>
          </p:cNvPr>
          <p:cNvSpPr txBox="1"/>
          <p:nvPr/>
        </p:nvSpPr>
        <p:spPr>
          <a:xfrm>
            <a:off x="1207698" y="1690062"/>
            <a:ext cx="8333117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i="1" dirty="0">
                <a:solidFill>
                  <a:schemeClr val="accent2"/>
                </a:solidFill>
                <a:latin typeface="Aptos Narrow" panose="020B0004020202020204" pitchFamily="34" charset="0"/>
              </a:rPr>
              <a:t>O projeto de implementação de ferramentas foi dividido em 3 etapas, cada uma com seus objetivos específicos. A seguir, são descritas as etapas do projeto:  </a:t>
            </a:r>
          </a:p>
        </p:txBody>
      </p:sp>
    </p:spTree>
    <p:extLst>
      <p:ext uri="{BB962C8B-B14F-4D97-AF65-F5344CB8AC3E}">
        <p14:creationId xmlns:p14="http://schemas.microsoft.com/office/powerpoint/2010/main" val="2758748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9CABFF6D-D2E3-B0DC-D665-6E19C28ED8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565" y="-293298"/>
            <a:ext cx="6847367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D1EDF3F-6E0F-4323-82DB-9723FAC8DD1F}"/>
              </a:ext>
            </a:extLst>
          </p:cNvPr>
          <p:cNvSpPr txBox="1"/>
          <p:nvPr/>
        </p:nvSpPr>
        <p:spPr>
          <a:xfrm>
            <a:off x="1061049" y="5477774"/>
            <a:ext cx="8988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análise rápida e barata de dados gigantes sem precisar de infraestrutura própria</a:t>
            </a:r>
          </a:p>
        </p:txBody>
      </p:sp>
    </p:spTree>
    <p:extLst>
      <p:ext uri="{BB962C8B-B14F-4D97-AF65-F5344CB8AC3E}">
        <p14:creationId xmlns:p14="http://schemas.microsoft.com/office/powerpoint/2010/main" val="1272850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B1AF0E1C-B089-1CC4-FA17-68DEF9418AD6}"/>
              </a:ext>
            </a:extLst>
          </p:cNvPr>
          <p:cNvSpPr txBox="1"/>
          <p:nvPr/>
        </p:nvSpPr>
        <p:spPr>
          <a:xfrm>
            <a:off x="1585104" y="1744313"/>
            <a:ext cx="610318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empresa precisa consultar dados complexos (DNA, logs do Animus, pesquisas históricas).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Sistemas de banco tradicionais não suportam análises imediatas em enormes volumes de dados.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empresa não quer gerenciar servidores, clusters nem banco de dados escalável.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 de análise lento prejudica operações e pesquisas secretas.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AD4B38E-BE7B-5812-92B6-20CB5F01832D}"/>
              </a:ext>
            </a:extLst>
          </p:cNvPr>
          <p:cNvSpPr txBox="1"/>
          <p:nvPr/>
        </p:nvSpPr>
        <p:spPr>
          <a:xfrm>
            <a:off x="1375913" y="966159"/>
            <a:ext cx="6521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FF0000"/>
                </a:solidFill>
              </a:rPr>
              <a:t>Dores que a empresa pode ter </a:t>
            </a:r>
          </a:p>
        </p:txBody>
      </p:sp>
      <p:pic>
        <p:nvPicPr>
          <p:cNvPr id="7" name="Imagem 6" descr="Desenho de homem de terno e gravata&#10;&#10;O conteúdo gerado por IA pode estar incorreto.">
            <a:extLst>
              <a:ext uri="{FF2B5EF4-FFF2-40B4-BE49-F238E27FC236}">
                <a16:creationId xmlns:a16="http://schemas.microsoft.com/office/drawing/2014/main" id="{4D2D90AB-7E33-3307-265F-A2760B195C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372653" y="1889185"/>
            <a:ext cx="3715109" cy="5572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5605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042E9BF4-C2D1-1DAE-64A9-1B955A0A01EA}"/>
              </a:ext>
            </a:extLst>
          </p:cNvPr>
          <p:cNvSpPr txBox="1"/>
          <p:nvPr/>
        </p:nvSpPr>
        <p:spPr>
          <a:xfrm>
            <a:off x="1593730" y="1720840"/>
            <a:ext cx="610318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Consultas SQL diretamente no S3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sem ETL pesado.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Totalmente 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serverless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zero manutenção.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Pagamento por consulta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reduzindo custos violentamente.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Processa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dados enormes em segundos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usando Presto/Trino.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Perfeito para auditoria, análises de DNA, logs, relatórios e investigações internas.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36F9536-3D08-0752-5F38-6BC95D471E55}"/>
              </a:ext>
            </a:extLst>
          </p:cNvPr>
          <p:cNvSpPr txBox="1"/>
          <p:nvPr/>
        </p:nvSpPr>
        <p:spPr>
          <a:xfrm>
            <a:off x="1587260" y="844663"/>
            <a:ext cx="6116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accent2"/>
                </a:solidFill>
              </a:rPr>
              <a:t>Como a Amazon Athena pode ajudar</a:t>
            </a:r>
          </a:p>
        </p:txBody>
      </p:sp>
      <p:pic>
        <p:nvPicPr>
          <p:cNvPr id="9" name="Imagem 8" descr="Imagem digital fictícia de personagem de filme&#10;&#10;O conteúdo gerado por IA pode estar incorreto.">
            <a:extLst>
              <a:ext uri="{FF2B5EF4-FFF2-40B4-BE49-F238E27FC236}">
                <a16:creationId xmlns:a16="http://schemas.microsoft.com/office/drawing/2014/main" id="{9E00D5D6-B302-D4CD-DBC6-F0A1AC2597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353886" y="2821264"/>
            <a:ext cx="7406153" cy="403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083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C15FDEF-9441-4A3E-FDC7-87B700E5B73B}"/>
              </a:ext>
            </a:extLst>
          </p:cNvPr>
          <p:cNvSpPr txBox="1"/>
          <p:nvPr/>
        </p:nvSpPr>
        <p:spPr>
          <a:xfrm>
            <a:off x="448574" y="1309655"/>
            <a:ext cx="870620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b="1" dirty="0">
                <a:solidFill>
                  <a:schemeClr val="accent1">
                    <a:lumMod val="75000"/>
                  </a:schemeClr>
                </a:solidFill>
              </a:rPr>
              <a:t>Consultas SQL diretamente no S3, sem ETL pesado</a:t>
            </a:r>
            <a:r>
              <a:rPr lang="pt-BR" sz="2000" b="1" dirty="0"/>
              <a:t>.</a:t>
            </a:r>
          </a:p>
          <a:p>
            <a:r>
              <a:rPr lang="pt-BR" sz="2000" b="1" dirty="0">
                <a:solidFill>
                  <a:schemeClr val="accent2"/>
                </a:solidFill>
              </a:rPr>
              <a:t>O que isso significa?</a:t>
            </a:r>
          </a:p>
          <a:p>
            <a:r>
              <a:rPr lang="pt-BR" sz="2000" dirty="0"/>
              <a:t>A Abstergo pode armazenar todos os dados brutos no S3 (DNA, memórias, logs do Animus, vídeos, resultados de experimentos, etc.) </a:t>
            </a:r>
            <a:r>
              <a:rPr lang="pt-BR" sz="2000" b="1" dirty="0"/>
              <a:t>sem precisar mover, transformar ou reorganizar os arquivos antes de analisar</a:t>
            </a:r>
            <a:r>
              <a:rPr lang="pt-BR" sz="2000" dirty="0"/>
              <a:t>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14E9868-B491-3427-52D3-F24DCAB05742}"/>
              </a:ext>
            </a:extLst>
          </p:cNvPr>
          <p:cNvSpPr txBox="1"/>
          <p:nvPr/>
        </p:nvSpPr>
        <p:spPr>
          <a:xfrm>
            <a:off x="448574" y="3429000"/>
            <a:ext cx="8807569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accent1">
                    <a:lumMod val="75000"/>
                  </a:schemeClr>
                </a:solidFill>
              </a:rPr>
              <a:t>Como isso ajuda a Abstergo?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accent2"/>
                </a:solidFill>
              </a:rPr>
              <a:t>Velocidade:</a:t>
            </a:r>
            <a:r>
              <a:rPr lang="pt-BR" sz="2000" dirty="0">
                <a:solidFill>
                  <a:schemeClr val="accent2"/>
                </a:solidFill>
              </a:rPr>
              <a:t> </a:t>
            </a:r>
            <a:r>
              <a:rPr lang="pt-BR" sz="2000" dirty="0"/>
              <a:t>Qualquer dado recém-coletado pode ser consultado imediatamente.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accent2"/>
                </a:solidFill>
              </a:rPr>
              <a:t>Sigilo:</a:t>
            </a:r>
            <a:r>
              <a:rPr lang="pt-BR" sz="2000" dirty="0">
                <a:solidFill>
                  <a:schemeClr val="accent2"/>
                </a:solidFill>
              </a:rPr>
              <a:t> </a:t>
            </a:r>
            <a:r>
              <a:rPr lang="pt-BR" sz="2000" dirty="0"/>
              <a:t>Menos movimentação de dados = menos risco de vazamentos.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accent2"/>
                </a:solidFill>
              </a:rPr>
              <a:t>Simplicidade operacional:</a:t>
            </a:r>
            <a:r>
              <a:rPr lang="pt-BR" sz="2000" dirty="0">
                <a:solidFill>
                  <a:schemeClr val="accent2"/>
                </a:solidFill>
              </a:rPr>
              <a:t> </a:t>
            </a:r>
            <a:r>
              <a:rPr lang="pt-BR" sz="2000" dirty="0"/>
              <a:t>Não precisa montar pipelines ETL complexos.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accent2"/>
                </a:solidFill>
              </a:rPr>
              <a:t>Flexibilidade:</a:t>
            </a:r>
            <a:r>
              <a:rPr lang="pt-BR" sz="2000" dirty="0">
                <a:solidFill>
                  <a:schemeClr val="accent2"/>
                </a:solidFill>
              </a:rPr>
              <a:t> </a:t>
            </a:r>
            <a:r>
              <a:rPr lang="pt-BR" sz="2000" dirty="0"/>
              <a:t>O cientista pode analisar dados brutos diretamente — perfeito para investigações urgentes.</a:t>
            </a:r>
          </a:p>
          <a:p>
            <a:endParaRPr lang="pt-BR" dirty="0"/>
          </a:p>
        </p:txBody>
      </p:sp>
      <p:pic>
        <p:nvPicPr>
          <p:cNvPr id="6" name="Imagem 5" descr="Desenho de um homem&#10;&#10;O conteúdo gerado por IA pode estar incorreto.">
            <a:extLst>
              <a:ext uri="{FF2B5EF4-FFF2-40B4-BE49-F238E27FC236}">
                <a16:creationId xmlns:a16="http://schemas.microsoft.com/office/drawing/2014/main" id="{05A1C507-EEED-77F3-7417-0A413BACF0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2037" y="3558037"/>
            <a:ext cx="3299963" cy="329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1690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C77726A-E605-20ED-9B9E-5F6B3110E701}"/>
              </a:ext>
            </a:extLst>
          </p:cNvPr>
          <p:cNvSpPr txBox="1"/>
          <p:nvPr/>
        </p:nvSpPr>
        <p:spPr>
          <a:xfrm>
            <a:off x="1438453" y="1129930"/>
            <a:ext cx="813686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b="1" dirty="0">
                <a:solidFill>
                  <a:schemeClr val="accent2"/>
                </a:solidFill>
              </a:rPr>
              <a:t>Totalmente </a:t>
            </a:r>
            <a:r>
              <a:rPr lang="pt-BR" sz="2000" b="1" dirty="0" err="1">
                <a:solidFill>
                  <a:schemeClr val="accent2"/>
                </a:solidFill>
              </a:rPr>
              <a:t>serverless</a:t>
            </a:r>
            <a:r>
              <a:rPr lang="pt-BR" sz="2000" b="1" dirty="0">
                <a:solidFill>
                  <a:schemeClr val="accent2"/>
                </a:solidFill>
              </a:rPr>
              <a:t> — zero manutenção.</a:t>
            </a:r>
          </a:p>
          <a:p>
            <a:r>
              <a:rPr lang="pt-BR" sz="2000" b="1" dirty="0">
                <a:solidFill>
                  <a:schemeClr val="accent1"/>
                </a:solidFill>
              </a:rPr>
              <a:t>O que isso significa?</a:t>
            </a:r>
          </a:p>
          <a:p>
            <a:r>
              <a:rPr lang="pt-BR" sz="2000" dirty="0"/>
              <a:t>Não existem servidores para cuidar, configurar, atualizar ou proteger.</a:t>
            </a:r>
            <a:br>
              <a:rPr lang="pt-BR" sz="2000" dirty="0"/>
            </a:br>
            <a:r>
              <a:rPr lang="pt-BR" sz="2000" dirty="0"/>
              <a:t>O Athena simplesmente funciona quando você consulta.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76365DB-B9F8-A2D6-F837-9B3DAF05E4CC}"/>
              </a:ext>
            </a:extLst>
          </p:cNvPr>
          <p:cNvSpPr txBox="1"/>
          <p:nvPr/>
        </p:nvSpPr>
        <p:spPr>
          <a:xfrm>
            <a:off x="722461" y="3081885"/>
            <a:ext cx="912027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accent2"/>
                </a:solidFill>
              </a:rPr>
              <a:t>Como isso ajuda a Abstergo?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accent1"/>
                </a:solidFill>
              </a:rPr>
              <a:t>Menos equipe técnica necessária</a:t>
            </a:r>
            <a:r>
              <a:rPr lang="pt-BR" sz="2000" dirty="0"/>
              <a:t>, reduzindo custos.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accent1"/>
                </a:solidFill>
              </a:rPr>
              <a:t>Menos rastros de infraestrutura</a:t>
            </a:r>
            <a:r>
              <a:rPr lang="pt-BR" sz="2000" dirty="0"/>
              <a:t>, aumentando o sigilo.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accent1"/>
                </a:solidFill>
              </a:rPr>
              <a:t>Sem tempo de parada</a:t>
            </a:r>
            <a:r>
              <a:rPr lang="pt-BR" sz="2000" dirty="0"/>
              <a:t>, garantindo que análises críticas do Animus estejam sempre disponíveis.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accent1"/>
                </a:solidFill>
              </a:rPr>
              <a:t>Escalabilidade automática</a:t>
            </a:r>
            <a:r>
              <a:rPr lang="pt-BR" sz="2000" b="1" dirty="0"/>
              <a:t>:</a:t>
            </a:r>
            <a:r>
              <a:rPr lang="pt-BR" sz="2000" dirty="0"/>
              <a:t> Se precisar analisar 1GB ou 1PB, funciona igual</a:t>
            </a:r>
          </a:p>
        </p:txBody>
      </p:sp>
      <p:pic>
        <p:nvPicPr>
          <p:cNvPr id="7" name="Imagem 6" descr="Homem de terno e gravata com a mão na cabeça&#10;&#10;O conteúdo gerado por IA pode estar incorreto.">
            <a:extLst>
              <a:ext uri="{FF2B5EF4-FFF2-40B4-BE49-F238E27FC236}">
                <a16:creationId xmlns:a16="http://schemas.microsoft.com/office/drawing/2014/main" id="{EBC3292D-F46A-6010-4153-6DA3D7977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005671" y="3864634"/>
            <a:ext cx="4490049" cy="2993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3951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D1C1AEF-7A88-9439-BAEE-141F399261CF}"/>
              </a:ext>
            </a:extLst>
          </p:cNvPr>
          <p:cNvSpPr txBox="1"/>
          <p:nvPr/>
        </p:nvSpPr>
        <p:spPr>
          <a:xfrm>
            <a:off x="465826" y="1309655"/>
            <a:ext cx="92992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b="1" dirty="0">
                <a:solidFill>
                  <a:schemeClr val="accent2"/>
                </a:solidFill>
              </a:rPr>
              <a:t>Pagamento por consulta — custo reduzido violentamente.</a:t>
            </a:r>
          </a:p>
          <a:p>
            <a:r>
              <a:rPr lang="pt-BR" sz="2000" b="1" dirty="0">
                <a:solidFill>
                  <a:schemeClr val="accent1"/>
                </a:solidFill>
              </a:rPr>
              <a:t>O que isso significa?</a:t>
            </a:r>
          </a:p>
          <a:p>
            <a:r>
              <a:rPr lang="pt-BR" sz="2000" dirty="0"/>
              <a:t>A Abstergo só paga quando realmente faz uma consulta SQL.</a:t>
            </a:r>
            <a:br>
              <a:rPr lang="pt-BR" sz="2000" dirty="0"/>
            </a:br>
            <a:r>
              <a:rPr lang="pt-BR" sz="2000" dirty="0"/>
              <a:t>Se rodar poucas análises, paga pouco.</a:t>
            </a:r>
            <a:br>
              <a:rPr lang="pt-BR" sz="2000" dirty="0"/>
            </a:br>
            <a:r>
              <a:rPr lang="pt-BR" sz="2000" dirty="0"/>
              <a:t>Se rodar muitas, o custo continua barato porque não há servidores ligados 24h.</a:t>
            </a:r>
          </a:p>
          <a:p>
            <a:endParaRPr lang="pt-BR" sz="20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630FD81-643E-73E4-9A33-A8B30B960B02}"/>
              </a:ext>
            </a:extLst>
          </p:cNvPr>
          <p:cNvSpPr txBox="1"/>
          <p:nvPr/>
        </p:nvSpPr>
        <p:spPr>
          <a:xfrm>
            <a:off x="465826" y="3248647"/>
            <a:ext cx="850780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b="1" dirty="0">
                <a:solidFill>
                  <a:schemeClr val="accent2"/>
                </a:solidFill>
              </a:rPr>
              <a:t>Como isso ajuda a Abstergo?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b="1" dirty="0">
                <a:solidFill>
                  <a:schemeClr val="accent1"/>
                </a:solidFill>
              </a:rPr>
              <a:t>Reduz drasticamente os custos operacionais</a:t>
            </a:r>
            <a:r>
              <a:rPr lang="pt-BR" sz="1800" dirty="0"/>
              <a:t>, já que ela não precisa manter máquinas ligadas o tempo todo.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b="1" dirty="0">
                <a:solidFill>
                  <a:schemeClr val="accent1"/>
                </a:solidFill>
              </a:rPr>
              <a:t>Perfeito para investigações esporádicas ou de alta intensidade</a:t>
            </a:r>
            <a:r>
              <a:rPr lang="pt-BR" sz="1800" dirty="0"/>
              <a:t>, sem desperdício.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b="1" dirty="0">
                <a:solidFill>
                  <a:schemeClr val="accent1"/>
                </a:solidFill>
              </a:rPr>
              <a:t>Evita custo fixo de servidores</a:t>
            </a:r>
            <a:r>
              <a:rPr lang="pt-BR" sz="1800" dirty="0">
                <a:solidFill>
                  <a:schemeClr val="accent1"/>
                </a:solidFill>
              </a:rPr>
              <a:t> </a:t>
            </a:r>
            <a:r>
              <a:rPr lang="pt-BR" sz="1800" dirty="0"/>
              <a:t>— algo crítico para quem trabalha com dados enormes e variáveis.</a:t>
            </a:r>
            <a:endParaRPr lang="pt-BR" dirty="0"/>
          </a:p>
        </p:txBody>
      </p:sp>
      <p:pic>
        <p:nvPicPr>
          <p:cNvPr id="7" name="Imagem 6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83501693-687D-8036-B75A-28B9484740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158" y="3532158"/>
            <a:ext cx="3325842" cy="332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073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F033D8F-F0EB-F597-3A16-BC4D98BA3474}"/>
              </a:ext>
            </a:extLst>
          </p:cNvPr>
          <p:cNvSpPr txBox="1"/>
          <p:nvPr/>
        </p:nvSpPr>
        <p:spPr>
          <a:xfrm>
            <a:off x="724619" y="887915"/>
            <a:ext cx="9031857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/>
              <a:t> </a:t>
            </a:r>
            <a:r>
              <a:rPr lang="pt-BR" sz="2400" b="1" dirty="0">
                <a:solidFill>
                  <a:schemeClr val="accent2"/>
                </a:solidFill>
              </a:rPr>
              <a:t>Processa dados enormes em segundos usando Presto/Trino.</a:t>
            </a:r>
          </a:p>
          <a:p>
            <a:r>
              <a:rPr lang="pt-BR" sz="2000" b="1" dirty="0">
                <a:solidFill>
                  <a:schemeClr val="accent1"/>
                </a:solidFill>
              </a:rPr>
              <a:t>O que isso significa?</a:t>
            </a:r>
          </a:p>
          <a:p>
            <a:r>
              <a:rPr lang="pt-BR" sz="2000" dirty="0"/>
              <a:t>O Athena usa motores de consulta extremamente rápidos que analisam grandes volumes de dados em segundos.</a:t>
            </a:r>
          </a:p>
          <a:p>
            <a:endParaRPr lang="pt-BR" sz="2000" b="1" dirty="0"/>
          </a:p>
          <a:p>
            <a:pPr algn="ctr"/>
            <a:r>
              <a:rPr lang="pt-BR" sz="2400" b="1" dirty="0">
                <a:solidFill>
                  <a:schemeClr val="accent1"/>
                </a:solidFill>
              </a:rPr>
              <a:t>Como isso ajuda a Abstergo?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accent1"/>
                </a:solidFill>
              </a:rPr>
              <a:t>Análises genéticas massivas</a:t>
            </a:r>
            <a:r>
              <a:rPr lang="pt-BR" sz="2000" dirty="0">
                <a:solidFill>
                  <a:schemeClr val="accent1"/>
                </a:solidFill>
              </a:rPr>
              <a:t> </a:t>
            </a:r>
            <a:r>
              <a:rPr lang="pt-BR" sz="2000" dirty="0"/>
              <a:t>ficam muito mais rápidas.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b="1" dirty="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accent1"/>
                </a:solidFill>
              </a:rPr>
              <a:t>Auditorias internas</a:t>
            </a:r>
            <a:r>
              <a:rPr lang="pt-BR" sz="2000" dirty="0">
                <a:solidFill>
                  <a:schemeClr val="accent1"/>
                </a:solidFill>
              </a:rPr>
              <a:t> </a:t>
            </a:r>
            <a:r>
              <a:rPr lang="pt-BR" sz="2000" dirty="0"/>
              <a:t>podem ser executadas em tempo real.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b="1" dirty="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accent1"/>
                </a:solidFill>
              </a:rPr>
              <a:t>Reconstrução de memórias históricas</a:t>
            </a:r>
            <a:r>
              <a:rPr lang="pt-BR" sz="2000" dirty="0">
                <a:solidFill>
                  <a:schemeClr val="accent1"/>
                </a:solidFill>
              </a:rPr>
              <a:t> </a:t>
            </a:r>
            <a:r>
              <a:rPr lang="pt-BR" sz="2000" dirty="0"/>
              <a:t>(que podem ser enormes) acontece muito mais rápido.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b="1" dirty="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accent1"/>
                </a:solidFill>
              </a:rPr>
              <a:t>Aceleram pesquisas e experimentos</a:t>
            </a:r>
            <a:r>
              <a:rPr lang="pt-BR" sz="2000" dirty="0"/>
              <a:t>, ideal para um laboratório secreto com alta demanda.</a:t>
            </a:r>
          </a:p>
        </p:txBody>
      </p:sp>
      <p:pic>
        <p:nvPicPr>
          <p:cNvPr id="5" name="Imagem 4" descr="Desenho de um homem&#10;&#10;O conteúdo gerado por IA pode estar incorreto.">
            <a:extLst>
              <a:ext uri="{FF2B5EF4-FFF2-40B4-BE49-F238E27FC236}">
                <a16:creationId xmlns:a16="http://schemas.microsoft.com/office/drawing/2014/main" id="{ABE251DC-7643-7636-3B4B-41BC6061BD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3576" y="3799576"/>
            <a:ext cx="3058424" cy="305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1454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9A31EA3-1278-D55E-7BE5-523F4DD83621}"/>
              </a:ext>
            </a:extLst>
          </p:cNvPr>
          <p:cNvSpPr txBox="1"/>
          <p:nvPr/>
        </p:nvSpPr>
        <p:spPr>
          <a:xfrm>
            <a:off x="388189" y="685215"/>
            <a:ext cx="902323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chemeClr val="accent2"/>
                </a:solidFill>
              </a:rPr>
              <a:t>Perfeito para auditoria, análises de DNA, logs, relatórios e investigações internas.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accent1"/>
                </a:solidFill>
              </a:rPr>
              <a:t>Auditoria interna completa:</a:t>
            </a:r>
            <a:br>
              <a:rPr lang="pt-BR" dirty="0"/>
            </a:br>
            <a:r>
              <a:rPr lang="pt-BR" dirty="0"/>
              <a:t>Permite rastrear tudo o que acontece no sistema, ótima ferramenta para detectar sabotadores (como Assassinos infiltrados 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accent1"/>
                </a:solidFill>
              </a:rPr>
              <a:t>Análises de DNA:</a:t>
            </a:r>
            <a:br>
              <a:rPr lang="pt-BR" dirty="0"/>
            </a:br>
            <a:r>
              <a:rPr lang="pt-BR" dirty="0"/>
              <a:t>O Athena lê arquivos Parquet, JSON, CSV, logs genéticos e executa consultas diretas.</a:t>
            </a:r>
            <a:br>
              <a:rPr lang="pt-BR" dirty="0"/>
            </a:br>
            <a:r>
              <a:rPr lang="pt-BR" dirty="0"/>
              <a:t>Ideal para cruzar dados de memória e informação hereditária.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accent1"/>
                </a:solidFill>
              </a:rPr>
              <a:t>Logs do Animus:</a:t>
            </a:r>
            <a:br>
              <a:rPr lang="pt-BR" dirty="0"/>
            </a:br>
            <a:r>
              <a:rPr lang="pt-BR" dirty="0"/>
              <a:t>Qualquer comportamento anormal do Animus ou falha em simulação aparece rapidamente nas consultas.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accent1"/>
                </a:solidFill>
              </a:rPr>
              <a:t>Relatórios automáticos:</a:t>
            </a:r>
            <a:br>
              <a:rPr lang="pt-BR" dirty="0"/>
            </a:br>
            <a:r>
              <a:rPr lang="pt-BR" dirty="0"/>
              <a:t>Dados podem ser acessados sem precisar de sistemas complexos de BI.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accent1"/>
                </a:solidFill>
              </a:rPr>
              <a:t>Investigações internas</a:t>
            </a:r>
            <a:r>
              <a:rPr lang="pt-BR" b="1" dirty="0"/>
              <a:t>:</a:t>
            </a:r>
            <a:br>
              <a:rPr lang="pt-BR" dirty="0"/>
            </a:br>
            <a:r>
              <a:rPr lang="pt-BR" dirty="0"/>
              <a:t>Se houver vazamento, traição ou manipulação de memória, o Athena consegue encontrar pistas rapidamente analisando logs massivos.</a:t>
            </a:r>
          </a:p>
        </p:txBody>
      </p:sp>
      <p:pic>
        <p:nvPicPr>
          <p:cNvPr id="5" name="Imagem 4" descr="Imagem digital fictícia de personagem de filme&#10;&#10;O conteúdo gerado por IA pode estar incorreto.">
            <a:extLst>
              <a:ext uri="{FF2B5EF4-FFF2-40B4-BE49-F238E27FC236}">
                <a16:creationId xmlns:a16="http://schemas.microsoft.com/office/drawing/2014/main" id="{D2A55993-CFD3-FD88-1C5A-4A39597BB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212202" y="3343275"/>
            <a:ext cx="6448425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6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Gráfico&#10;&#10;O conteúdo gerado por IA pode estar incorreto.">
            <a:extLst>
              <a:ext uri="{FF2B5EF4-FFF2-40B4-BE49-F238E27FC236}">
                <a16:creationId xmlns:a16="http://schemas.microsoft.com/office/drawing/2014/main" id="{90B0B0F3-797E-D0DD-11F2-C2DD488A9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853" y="1313372"/>
            <a:ext cx="7522233" cy="423125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521E356-475C-7D35-06A3-FCE405968099}"/>
              </a:ext>
            </a:extLst>
          </p:cNvPr>
          <p:cNvSpPr txBox="1"/>
          <p:nvPr/>
        </p:nvSpPr>
        <p:spPr>
          <a:xfrm>
            <a:off x="7418717" y="4899803"/>
            <a:ext cx="1181819" cy="448574"/>
          </a:xfrm>
          <a:prstGeom prst="rect">
            <a:avLst/>
          </a:prstGeom>
          <a:solidFill>
            <a:srgbClr val="FFDB58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793FDA7-EFF7-E71E-5331-E2B08D856DF5}"/>
              </a:ext>
            </a:extLst>
          </p:cNvPr>
          <p:cNvSpPr txBox="1"/>
          <p:nvPr/>
        </p:nvSpPr>
        <p:spPr>
          <a:xfrm>
            <a:off x="2579297" y="4866625"/>
            <a:ext cx="6538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i="1" dirty="0"/>
              <a:t>Segurança, Controle e Confidencialidade Absoluta</a:t>
            </a:r>
          </a:p>
        </p:txBody>
      </p:sp>
    </p:spTree>
    <p:extLst>
      <p:ext uri="{BB962C8B-B14F-4D97-AF65-F5344CB8AC3E}">
        <p14:creationId xmlns:p14="http://schemas.microsoft.com/office/powerpoint/2010/main" val="3610979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83C61BD-B060-46CC-AAE8-8103E225270C}"/>
              </a:ext>
            </a:extLst>
          </p:cNvPr>
          <p:cNvSpPr txBox="1"/>
          <p:nvPr/>
        </p:nvSpPr>
        <p:spPr>
          <a:xfrm>
            <a:off x="1147312" y="2167810"/>
            <a:ext cx="800531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Char char="•"/>
            </a:pPr>
            <a:r>
              <a:rPr lang="pt-BR" dirty="0"/>
              <a:t> </a:t>
            </a:r>
            <a:r>
              <a:rPr lang="pt-BR" sz="2400" dirty="0"/>
              <a:t>Alta sensibilidade dos dados (genéticos, memórias, experimentos, planos secretos).</a:t>
            </a:r>
          </a:p>
          <a:p>
            <a:pPr algn="ctr"/>
            <a:r>
              <a:rPr lang="pt-BR" sz="2400" dirty="0"/>
              <a:t>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pt-BR" sz="2400" dirty="0"/>
              <a:t>Risco de espionagem corporativa e vazamento.</a:t>
            </a:r>
          </a:p>
          <a:p>
            <a:pPr algn="ctr"/>
            <a:r>
              <a:rPr lang="pt-BR" sz="2400" dirty="0"/>
              <a:t>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pt-BR" sz="2400" dirty="0"/>
              <a:t>Necessidade de controlar quem acessa o quê, em nível granular.</a:t>
            </a:r>
          </a:p>
          <a:p>
            <a:pPr algn="ctr"/>
            <a:r>
              <a:rPr lang="pt-BR" sz="2400" dirty="0"/>
              <a:t>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pt-BR" sz="2400" dirty="0"/>
              <a:t>Necessidade de criptografia forte sem complicação.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6EE8EC1-E433-3C46-5247-0310E0E75ECD}"/>
              </a:ext>
            </a:extLst>
          </p:cNvPr>
          <p:cNvSpPr txBox="1"/>
          <p:nvPr/>
        </p:nvSpPr>
        <p:spPr>
          <a:xfrm>
            <a:off x="1544127" y="1397478"/>
            <a:ext cx="69615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i="1" dirty="0">
                <a:solidFill>
                  <a:schemeClr val="accent4"/>
                </a:solidFill>
              </a:rPr>
              <a:t>Dores que a   AWS + KMS resolvem</a:t>
            </a:r>
          </a:p>
        </p:txBody>
      </p:sp>
      <p:pic>
        <p:nvPicPr>
          <p:cNvPr id="8" name="Imagem 7" descr="Desenho de homem de terno e gravata&#10;&#10;O conteúdo gerado por IA pode estar incorreto.">
            <a:extLst>
              <a:ext uri="{FF2B5EF4-FFF2-40B4-BE49-F238E27FC236}">
                <a16:creationId xmlns:a16="http://schemas.microsoft.com/office/drawing/2014/main" id="{E11BEC42-69F6-1316-1D4B-C320788ECF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615578" y="3429000"/>
            <a:ext cx="2576422" cy="386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612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8780E96-CFBE-E6DB-E867-518B97D9B1BA}"/>
              </a:ext>
            </a:extLst>
          </p:cNvPr>
          <p:cNvSpPr txBox="1"/>
          <p:nvPr/>
        </p:nvSpPr>
        <p:spPr>
          <a:xfrm>
            <a:off x="1388852" y="1880558"/>
            <a:ext cx="753948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Criptografia completa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 todos os dados no S3, Athena e qualquer serviço AWS.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Chaves gerenciadas pela própria Abstergo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 o governo não teria acesso.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Controle total de acesso IAM + políticas detalhadas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Logs de uso de chaves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gerando rastreabilidade total.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Integração com CloudTrail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garantindo auditoria completa de qualquer tentativa de acesso.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B5995DD-68BD-20A3-9D99-8DF8BC57F687}"/>
              </a:ext>
            </a:extLst>
          </p:cNvPr>
          <p:cNvSpPr txBox="1"/>
          <p:nvPr/>
        </p:nvSpPr>
        <p:spPr>
          <a:xfrm>
            <a:off x="1483742" y="1191790"/>
            <a:ext cx="69615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i="1" dirty="0">
                <a:solidFill>
                  <a:schemeClr val="accent4"/>
                </a:solidFill>
              </a:rPr>
              <a:t>Como a AWS + KMS resolve :</a:t>
            </a:r>
          </a:p>
        </p:txBody>
      </p:sp>
      <p:pic>
        <p:nvPicPr>
          <p:cNvPr id="8" name="Imagem 7" descr="Imagem digital fictícia de personagem de filme&#10;&#10;O conteúdo gerado por IA pode estar incorreto.">
            <a:extLst>
              <a:ext uri="{FF2B5EF4-FFF2-40B4-BE49-F238E27FC236}">
                <a16:creationId xmlns:a16="http://schemas.microsoft.com/office/drawing/2014/main" id="{789BF5E9-3B49-073D-AA61-2A803AAD29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281213" y="3429000"/>
            <a:ext cx="6448425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794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B305F78-2D26-D008-18ED-33065BD12BDC}"/>
              </a:ext>
            </a:extLst>
          </p:cNvPr>
          <p:cNvSpPr txBox="1"/>
          <p:nvPr/>
        </p:nvSpPr>
        <p:spPr>
          <a:xfrm>
            <a:off x="1205540" y="2030415"/>
            <a:ext cx="798159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chemeClr val="accent2"/>
                </a:solidFill>
              </a:rPr>
              <a:t>Criptografia completa de todos os dados no S3, Athena e qualquer serviço AWS.</a:t>
            </a:r>
          </a:p>
          <a:p>
            <a:r>
              <a:rPr lang="pt-BR" sz="2400" dirty="0">
                <a:solidFill>
                  <a:schemeClr val="accent1"/>
                </a:solidFill>
              </a:rPr>
              <a:t>Todos os dados ficam protegidos automaticamente com criptografia forte (AES-256 nível militar). Mesmo que alguém consiga acessar os arquivos, não consegue ler nada sem a chave</a:t>
            </a:r>
            <a:r>
              <a:rPr lang="pt-BR" dirty="0"/>
              <a:t>.</a:t>
            </a:r>
          </a:p>
        </p:txBody>
      </p:sp>
      <p:pic>
        <p:nvPicPr>
          <p:cNvPr id="5" name="Imagem 4" descr="Desenho de homem de terno e gravata&#10;&#10;O conteúdo gerado por IA pode estar incorreto.">
            <a:extLst>
              <a:ext uri="{FF2B5EF4-FFF2-40B4-BE49-F238E27FC236}">
                <a16:creationId xmlns:a16="http://schemas.microsoft.com/office/drawing/2014/main" id="{A3254700-70A4-6126-B0BA-BA1CC76FC8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402792" y="3350284"/>
            <a:ext cx="2582172" cy="387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6686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EAF92C2-36CD-39E5-637A-7CD66B8DE560}"/>
              </a:ext>
            </a:extLst>
          </p:cNvPr>
          <p:cNvSpPr txBox="1"/>
          <p:nvPr/>
        </p:nvSpPr>
        <p:spPr>
          <a:xfrm>
            <a:off x="1533344" y="1986807"/>
            <a:ext cx="777455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chemeClr val="accent2"/>
                </a:solidFill>
              </a:rPr>
              <a:t>Chaves gerenciadas pela própria Abstergo — o governo não teria acesso.</a:t>
            </a:r>
          </a:p>
          <a:p>
            <a:r>
              <a:rPr lang="pt-BR" sz="2400" dirty="0">
                <a:solidFill>
                  <a:schemeClr val="accent1"/>
                </a:solidFill>
              </a:rPr>
              <a:t>Com o KMS, a Abstergo controla totalmente as chaves de criptografia.</a:t>
            </a:r>
            <a:br>
              <a:rPr lang="pt-BR" sz="2400" dirty="0">
                <a:solidFill>
                  <a:schemeClr val="accent1"/>
                </a:solidFill>
              </a:rPr>
            </a:br>
            <a:r>
              <a:rPr lang="pt-BR" sz="2400" dirty="0">
                <a:solidFill>
                  <a:schemeClr val="accent1"/>
                </a:solidFill>
              </a:rPr>
              <a:t>Nem AWS, nem governo, nem terceiros podem descriptografar dados sem aprovação interna</a:t>
            </a:r>
          </a:p>
        </p:txBody>
      </p:sp>
      <p:pic>
        <p:nvPicPr>
          <p:cNvPr id="4" name="Imagem 3" descr="Desenho de homem de terno e gravata&#10;&#10;O conteúdo gerado por IA pode estar incorreto.">
            <a:extLst>
              <a:ext uri="{FF2B5EF4-FFF2-40B4-BE49-F238E27FC236}">
                <a16:creationId xmlns:a16="http://schemas.microsoft.com/office/drawing/2014/main" id="{C305415B-C33D-0DF4-E06D-F8F94089CB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609828" y="3350284"/>
            <a:ext cx="2582172" cy="387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5489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Desenho de homem de terno e gravata&#10;&#10;O conteúdo gerado por IA pode estar incorreto.">
            <a:extLst>
              <a:ext uri="{FF2B5EF4-FFF2-40B4-BE49-F238E27FC236}">
                <a16:creationId xmlns:a16="http://schemas.microsoft.com/office/drawing/2014/main" id="{FFB833A4-16E7-858E-41A5-1D0FB1275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402792" y="3350284"/>
            <a:ext cx="2582172" cy="387325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FEDCCF8-56BC-CA49-4E69-ED18E471BC98}"/>
              </a:ext>
            </a:extLst>
          </p:cNvPr>
          <p:cNvSpPr txBox="1"/>
          <p:nvPr/>
        </p:nvSpPr>
        <p:spPr>
          <a:xfrm>
            <a:off x="1378068" y="1414326"/>
            <a:ext cx="7472633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>
                <a:solidFill>
                  <a:schemeClr val="accent2"/>
                </a:solidFill>
              </a:rPr>
              <a:t>Controle total de acesso IAM + políticas detalhadas.</a:t>
            </a:r>
          </a:p>
          <a:p>
            <a:r>
              <a:rPr lang="pt-BR" sz="2800" dirty="0">
                <a:solidFill>
                  <a:schemeClr val="accent1"/>
                </a:solidFill>
              </a:rPr>
              <a:t>A empresa define exatamente quem pode acessar o quê: usuários, grupos, horários, redes, ações permitidas e proibidas.</a:t>
            </a:r>
            <a:br>
              <a:rPr lang="pt-BR" sz="2800" dirty="0">
                <a:solidFill>
                  <a:schemeClr val="accent1"/>
                </a:solidFill>
              </a:rPr>
            </a:br>
            <a:r>
              <a:rPr lang="pt-BR" sz="2800" dirty="0">
                <a:solidFill>
                  <a:schemeClr val="accent1"/>
                </a:solidFill>
              </a:rPr>
              <a:t>Isso impede acessos indevidos, vazamentos e espionagem interna.</a:t>
            </a:r>
          </a:p>
        </p:txBody>
      </p:sp>
    </p:spTree>
    <p:extLst>
      <p:ext uri="{BB962C8B-B14F-4D97-AF65-F5344CB8AC3E}">
        <p14:creationId xmlns:p14="http://schemas.microsoft.com/office/powerpoint/2010/main" val="34175309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3009E8B-B0C6-60F9-D5FA-BA7AEB95E689}"/>
              </a:ext>
            </a:extLst>
          </p:cNvPr>
          <p:cNvSpPr txBox="1"/>
          <p:nvPr/>
        </p:nvSpPr>
        <p:spPr>
          <a:xfrm>
            <a:off x="1343564" y="1866513"/>
            <a:ext cx="6963674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chemeClr val="accent2"/>
                </a:solidFill>
              </a:rPr>
              <a:t>Logs de uso de chaves, gerando rastreabilidade total.</a:t>
            </a:r>
          </a:p>
          <a:p>
            <a:r>
              <a:rPr lang="pt-BR" sz="2400" dirty="0">
                <a:solidFill>
                  <a:schemeClr val="accent1"/>
                </a:solidFill>
              </a:rPr>
              <a:t>Cada vez que alguém tenta usar ou acessar uma chave, o KMS registra tudo: horário, usuário, recurso e resultado.</a:t>
            </a:r>
            <a:br>
              <a:rPr lang="pt-BR" sz="2400" dirty="0">
                <a:solidFill>
                  <a:schemeClr val="accent1"/>
                </a:solidFill>
              </a:rPr>
            </a:br>
            <a:r>
              <a:rPr lang="pt-BR" sz="2400" dirty="0">
                <a:solidFill>
                  <a:schemeClr val="accent1"/>
                </a:solidFill>
              </a:rPr>
              <a:t>Isso permite detectar abusos e rastrear qualquer tentativa de invasão.</a:t>
            </a:r>
          </a:p>
        </p:txBody>
      </p:sp>
      <p:pic>
        <p:nvPicPr>
          <p:cNvPr id="4" name="Imagem 3" descr="Desenho de homem de terno e gravata&#10;&#10;O conteúdo gerado por IA pode estar incorreto.">
            <a:extLst>
              <a:ext uri="{FF2B5EF4-FFF2-40B4-BE49-F238E27FC236}">
                <a16:creationId xmlns:a16="http://schemas.microsoft.com/office/drawing/2014/main" id="{77231813-6D86-446E-B15B-C7470030E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402792" y="3350284"/>
            <a:ext cx="2582172" cy="387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5319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Desenho de homem de terno e gravata&#10;&#10;O conteúdo gerado por IA pode estar incorreto.">
            <a:extLst>
              <a:ext uri="{FF2B5EF4-FFF2-40B4-BE49-F238E27FC236}">
                <a16:creationId xmlns:a16="http://schemas.microsoft.com/office/drawing/2014/main" id="{43780F34-9747-0CAC-BCA4-56915E5269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402792" y="3350284"/>
            <a:ext cx="2582172" cy="387325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75CA49E-530F-3E77-1B17-9882C3676939}"/>
              </a:ext>
            </a:extLst>
          </p:cNvPr>
          <p:cNvSpPr txBox="1"/>
          <p:nvPr/>
        </p:nvSpPr>
        <p:spPr>
          <a:xfrm>
            <a:off x="1205540" y="1754938"/>
            <a:ext cx="826626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chemeClr val="accent2"/>
                </a:solidFill>
              </a:rPr>
              <a:t>Integração com CloudTrail, garantindo auditoria completa de qualquer tentativa de acesso.</a:t>
            </a:r>
          </a:p>
          <a:p>
            <a:r>
              <a:rPr lang="pt-BR" sz="2400" dirty="0">
                <a:solidFill>
                  <a:schemeClr val="accent1"/>
                </a:solidFill>
              </a:rPr>
              <a:t>O CloudTrail registra todas as ações realizadas nos serviços AWS, criando um histórico completo.</a:t>
            </a:r>
            <a:br>
              <a:rPr lang="pt-BR" sz="2400" dirty="0">
                <a:solidFill>
                  <a:schemeClr val="accent1"/>
                </a:solidFill>
              </a:rPr>
            </a:br>
            <a:r>
              <a:rPr lang="pt-BR" sz="2400" dirty="0">
                <a:solidFill>
                  <a:schemeClr val="accent1"/>
                </a:solidFill>
              </a:rPr>
              <a:t>Qualquer tentativa de abrir, copiar, descriptografar ou alterar dados deixa rastro — impossível apagar ou esconder</a:t>
            </a:r>
            <a:r>
              <a:rPr lang="pt-BR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1231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&#10;&#10;O conteúdo gerado por IA pode estar incorreto.">
            <a:extLst>
              <a:ext uri="{FF2B5EF4-FFF2-40B4-BE49-F238E27FC236}">
                <a16:creationId xmlns:a16="http://schemas.microsoft.com/office/drawing/2014/main" id="{D4AED35D-8419-428C-FE3F-79F17EF05C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503" y="855872"/>
            <a:ext cx="6861674" cy="514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6094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18E8B6E-8B3A-BD5C-99B0-603ECBA85A8F}"/>
              </a:ext>
            </a:extLst>
          </p:cNvPr>
          <p:cNvSpPr txBox="1"/>
          <p:nvPr/>
        </p:nvSpPr>
        <p:spPr>
          <a:xfrm>
            <a:off x="1516092" y="1956137"/>
            <a:ext cx="845604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 A empresa coleta quantidades gigantescas de dados de DNA, memórias e arquivos históricos.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 Data centers próprios não acompanham o crescimento exponencial dos dados.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 Custos altos com manutenção, energia, refrigeração e equipe.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 Risco de perda de dados por falha física ou desastre.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1C599A6-DC4D-557F-B1F8-D33762DC8C94}"/>
              </a:ext>
            </a:extLst>
          </p:cNvPr>
          <p:cNvSpPr txBox="1"/>
          <p:nvPr/>
        </p:nvSpPr>
        <p:spPr>
          <a:xfrm>
            <a:off x="1971134" y="1116211"/>
            <a:ext cx="73022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i="1" dirty="0">
                <a:solidFill>
                  <a:srgbClr val="FF0000"/>
                </a:solidFill>
              </a:rPr>
              <a:t>Dores que a empresa pode ter </a:t>
            </a:r>
          </a:p>
        </p:txBody>
      </p:sp>
    </p:spTree>
    <p:extLst>
      <p:ext uri="{BB962C8B-B14F-4D97-AF65-F5344CB8AC3E}">
        <p14:creationId xmlns:p14="http://schemas.microsoft.com/office/powerpoint/2010/main" val="2633118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B5F737E-DB35-064A-282F-ECF79C96B4EF}"/>
              </a:ext>
            </a:extLst>
          </p:cNvPr>
          <p:cNvSpPr txBox="1"/>
          <p:nvPr/>
        </p:nvSpPr>
        <p:spPr>
          <a:xfrm>
            <a:off x="733330" y="546401"/>
            <a:ext cx="61020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i="1" dirty="0">
                <a:solidFill>
                  <a:schemeClr val="accent2"/>
                </a:solidFill>
              </a:rPr>
              <a:t>Armazenamento Massivo, Escalável e Confiável: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E2C794C-0983-B2DE-09D3-B41C9C2C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887" y="2146881"/>
            <a:ext cx="918021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✔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Escalabilidade infinita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para armazenar qualquer volume — petabytes a zettabytes.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✔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Classes de armazenamento inteligentes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, incluindo Glacier para dados frios.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✔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Alta durabilidade (99.999999999%)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com replicações automáticas entre zonas.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✔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Integração nativa com Athena, Glue, KMS e todo o ecossistema AWS.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✔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Baixíssimo custo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comparado a data centers físicos.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5172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Desenho de homem de terno e gravata&#10;&#10;O conteúdo gerado por IA pode estar incorreto.">
            <a:extLst>
              <a:ext uri="{FF2B5EF4-FFF2-40B4-BE49-F238E27FC236}">
                <a16:creationId xmlns:a16="http://schemas.microsoft.com/office/drawing/2014/main" id="{75DCC162-547C-DFDB-2547-E2B5538557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866649" y="2499290"/>
            <a:ext cx="3217067" cy="482560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D4F438C-AAB0-7C0D-83C8-7ED65C0B33DF}"/>
              </a:ext>
            </a:extLst>
          </p:cNvPr>
          <p:cNvSpPr txBox="1"/>
          <p:nvPr/>
        </p:nvSpPr>
        <p:spPr>
          <a:xfrm>
            <a:off x="920415" y="1246409"/>
            <a:ext cx="831983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i="1" dirty="0">
                <a:solidFill>
                  <a:schemeClr val="accent2"/>
                </a:solidFill>
              </a:rPr>
              <a:t>Escalabilidade infinita:</a:t>
            </a:r>
          </a:p>
          <a:p>
            <a:r>
              <a:rPr lang="pt-BR" sz="3200" dirty="0">
                <a:solidFill>
                  <a:schemeClr val="accent1"/>
                </a:solidFill>
              </a:rPr>
              <a:t>• 	O serviço pode crescer sem limites, armazenando desde poucos gigabytes até petabytes ou zettabytes.</a:t>
            </a:r>
          </a:p>
          <a:p>
            <a:r>
              <a:rPr lang="pt-BR" sz="3200" dirty="0">
                <a:solidFill>
                  <a:schemeClr val="accent1"/>
                </a:solidFill>
              </a:rPr>
              <a:t>• 	Isso significa que empresas não precisam se preocupar em “ficar sem espaço” — o sistema acompanha o crescimento dos dados automaticamente.</a:t>
            </a:r>
          </a:p>
        </p:txBody>
      </p:sp>
    </p:spTree>
    <p:extLst>
      <p:ext uri="{BB962C8B-B14F-4D97-AF65-F5344CB8AC3E}">
        <p14:creationId xmlns:p14="http://schemas.microsoft.com/office/powerpoint/2010/main" val="33891697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0E4B671-154D-6E03-20D6-D5BB208C203A}"/>
              </a:ext>
            </a:extLst>
          </p:cNvPr>
          <p:cNvSpPr txBox="1"/>
          <p:nvPr/>
        </p:nvSpPr>
        <p:spPr>
          <a:xfrm>
            <a:off x="895444" y="1159670"/>
            <a:ext cx="81153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dirty="0"/>
              <a:t> </a:t>
            </a:r>
            <a:r>
              <a:rPr lang="pt-BR" sz="3200" b="1" i="1" dirty="0">
                <a:solidFill>
                  <a:schemeClr val="accent2"/>
                </a:solidFill>
              </a:rPr>
              <a:t>Classes de armazenamento inteligentes</a:t>
            </a:r>
          </a:p>
          <a:p>
            <a:pPr algn="ctr"/>
            <a:endParaRPr lang="pt-BR" sz="3200" b="1" i="1" dirty="0">
              <a:solidFill>
                <a:schemeClr val="accent1"/>
              </a:solidFill>
            </a:endParaRPr>
          </a:p>
          <a:p>
            <a:r>
              <a:rPr lang="pt-BR" sz="2400" dirty="0">
                <a:solidFill>
                  <a:schemeClr val="accent1"/>
                </a:solidFill>
              </a:rPr>
              <a:t>• 	O serviço oferece diferentes classes para otimizar custo e desempenho.</a:t>
            </a:r>
          </a:p>
          <a:p>
            <a:endParaRPr lang="pt-BR" sz="2400" dirty="0">
              <a:solidFill>
                <a:schemeClr val="accent1"/>
              </a:solidFill>
            </a:endParaRPr>
          </a:p>
          <a:p>
            <a:r>
              <a:rPr lang="pt-BR" sz="2400" dirty="0">
                <a:solidFill>
                  <a:schemeClr val="accent1"/>
                </a:solidFill>
              </a:rPr>
              <a:t>• 	Exemplo: Glacier é ideal para dados frios (arquivos pouco acessados), com custo extremamente baixo.</a:t>
            </a:r>
          </a:p>
          <a:p>
            <a:endParaRPr lang="pt-BR" sz="2400" dirty="0">
              <a:solidFill>
                <a:schemeClr val="accent1"/>
              </a:solidFill>
            </a:endParaRPr>
          </a:p>
          <a:p>
            <a:r>
              <a:rPr lang="pt-BR" sz="2400" dirty="0">
                <a:solidFill>
                  <a:schemeClr val="accent1"/>
                </a:solidFill>
              </a:rPr>
              <a:t>• 	Outras classes ajustam automaticamente o nível de acesso conforme o uso.</a:t>
            </a:r>
          </a:p>
        </p:txBody>
      </p:sp>
      <p:pic>
        <p:nvPicPr>
          <p:cNvPr id="5" name="Imagem 4" descr="Desenho de homem de terno e gravata&#10;&#10;O conteúdo gerado por IA pode estar incorreto.">
            <a:extLst>
              <a:ext uri="{FF2B5EF4-FFF2-40B4-BE49-F238E27FC236}">
                <a16:creationId xmlns:a16="http://schemas.microsoft.com/office/drawing/2014/main" id="{B00510B5-5DE1-A13D-8447-54809F2148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125953" y="2683041"/>
            <a:ext cx="3066047" cy="4599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5625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magem digital fictícia de personagem de filme&#10;&#10;O conteúdo gerado por IA pode estar incorreto.">
            <a:extLst>
              <a:ext uri="{FF2B5EF4-FFF2-40B4-BE49-F238E27FC236}">
                <a16:creationId xmlns:a16="http://schemas.microsoft.com/office/drawing/2014/main" id="{82AB43DD-3DDF-EB69-A10D-20D0053F76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395768" y="2406316"/>
            <a:ext cx="8167453" cy="445168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91601A3-58B8-9998-92AD-74B35F391A12}"/>
              </a:ext>
            </a:extLst>
          </p:cNvPr>
          <p:cNvSpPr txBox="1"/>
          <p:nvPr/>
        </p:nvSpPr>
        <p:spPr>
          <a:xfrm>
            <a:off x="757989" y="1235708"/>
            <a:ext cx="8167453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i="1" dirty="0">
                <a:solidFill>
                  <a:schemeClr val="accent2"/>
                </a:solidFill>
              </a:rPr>
              <a:t>Alta durabilidade (99.999999999%)</a:t>
            </a:r>
          </a:p>
          <a:p>
            <a:endParaRPr lang="pt-BR" sz="2800" dirty="0"/>
          </a:p>
          <a:p>
            <a:r>
              <a:rPr lang="pt-BR" sz="2800" dirty="0">
                <a:solidFill>
                  <a:schemeClr val="accent1"/>
                </a:solidFill>
              </a:rPr>
              <a:t>• 	Os dados são replicados automaticamente em várias zonas de disponibilidade.</a:t>
            </a:r>
          </a:p>
          <a:p>
            <a:endParaRPr lang="pt-BR" sz="2800" dirty="0">
              <a:solidFill>
                <a:schemeClr val="accent1"/>
              </a:solidFill>
            </a:endParaRPr>
          </a:p>
          <a:p>
            <a:r>
              <a:rPr lang="pt-BR" sz="2800" dirty="0">
                <a:solidFill>
                  <a:schemeClr val="accent1"/>
                </a:solidFill>
              </a:rPr>
              <a:t>• 	Essa taxa de durabilidade (11 noves) garante que a chance de perda de informação seja praticamente nula.</a:t>
            </a:r>
          </a:p>
        </p:txBody>
      </p:sp>
    </p:spTree>
    <p:extLst>
      <p:ext uri="{BB962C8B-B14F-4D97-AF65-F5344CB8AC3E}">
        <p14:creationId xmlns:p14="http://schemas.microsoft.com/office/powerpoint/2010/main" val="14035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2782100-BE03-F8BE-71A5-91C924A6FB8E}"/>
              </a:ext>
            </a:extLst>
          </p:cNvPr>
          <p:cNvSpPr txBox="1"/>
          <p:nvPr/>
        </p:nvSpPr>
        <p:spPr>
          <a:xfrm>
            <a:off x="908383" y="1131974"/>
            <a:ext cx="823561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 </a:t>
            </a:r>
            <a:r>
              <a:rPr lang="pt-BR" sz="3200" b="1" i="1" dirty="0">
                <a:solidFill>
                  <a:schemeClr val="accent2"/>
                </a:solidFill>
              </a:rPr>
              <a:t>Integração nativa com o ecossistema AWS</a:t>
            </a:r>
          </a:p>
          <a:p>
            <a:pPr algn="ctr"/>
            <a:endParaRPr lang="pt-BR" sz="3200" b="1" i="1" dirty="0"/>
          </a:p>
          <a:p>
            <a:r>
              <a:rPr lang="pt-BR" sz="2400" dirty="0">
                <a:solidFill>
                  <a:schemeClr val="accent1"/>
                </a:solidFill>
              </a:rPr>
              <a:t>• 	Funciona de forma integrada com ferramentas como Athena (consultas SQL em dados), Glue (ETL), KMS (gerenciamento de chaves de segurança).</a:t>
            </a:r>
          </a:p>
          <a:p>
            <a:endParaRPr lang="pt-BR" sz="2400" dirty="0">
              <a:solidFill>
                <a:schemeClr val="accent1"/>
              </a:solidFill>
            </a:endParaRPr>
          </a:p>
          <a:p>
            <a:r>
              <a:rPr lang="pt-BR" sz="2400" dirty="0">
                <a:solidFill>
                  <a:schemeClr val="accent1"/>
                </a:solidFill>
              </a:rPr>
              <a:t>• 	Essa integração facilita análises, segurança e automação sem precisar mover os dados para fora da AWS</a:t>
            </a:r>
            <a:r>
              <a:rPr lang="pt-BR" sz="2400" dirty="0"/>
              <a:t>.</a:t>
            </a:r>
          </a:p>
        </p:txBody>
      </p:sp>
      <p:pic>
        <p:nvPicPr>
          <p:cNvPr id="5" name="Imagem 4" descr="Imagem digital fictícia de personagem de filme&#10;&#10;O conteúdo gerado por IA pode estar incorreto.">
            <a:extLst>
              <a:ext uri="{FF2B5EF4-FFF2-40B4-BE49-F238E27FC236}">
                <a16:creationId xmlns:a16="http://schemas.microsoft.com/office/drawing/2014/main" id="{7F31B1A2-2B73-AAEE-4A25-9D38DF1CB1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284618" y="3343275"/>
            <a:ext cx="6448425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7792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DA5946F-5340-4214-5EE9-507766B99C0A}"/>
              </a:ext>
            </a:extLst>
          </p:cNvPr>
          <p:cNvSpPr txBox="1"/>
          <p:nvPr/>
        </p:nvSpPr>
        <p:spPr>
          <a:xfrm>
            <a:off x="836194" y="1005778"/>
            <a:ext cx="8235616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dirty="0">
                <a:solidFill>
                  <a:schemeClr val="accent2"/>
                </a:solidFill>
              </a:rPr>
              <a:t> Baixo custo</a:t>
            </a:r>
          </a:p>
          <a:p>
            <a:r>
              <a:rPr lang="pt-BR" sz="3200" dirty="0">
                <a:solidFill>
                  <a:schemeClr val="accent1"/>
                </a:solidFill>
              </a:rPr>
              <a:t>• 	Comparado a manter data centers físicos, o custo é muito menor.</a:t>
            </a:r>
          </a:p>
          <a:p>
            <a:endParaRPr lang="pt-BR" sz="3200" dirty="0">
              <a:solidFill>
                <a:schemeClr val="accent1"/>
              </a:solidFill>
            </a:endParaRPr>
          </a:p>
          <a:p>
            <a:r>
              <a:rPr lang="pt-BR" sz="3200" dirty="0">
                <a:solidFill>
                  <a:schemeClr val="accent1"/>
                </a:solidFill>
              </a:rPr>
              <a:t>• 	Não há necessidade de investir em infraestrutura própria, manutenção ou energia — paga-se apenas pelo uso</a:t>
            </a:r>
            <a:r>
              <a:rPr lang="pt-BR" sz="3200" dirty="0"/>
              <a:t>.</a:t>
            </a:r>
          </a:p>
        </p:txBody>
      </p:sp>
      <p:pic>
        <p:nvPicPr>
          <p:cNvPr id="5" name="Imagem 4" descr="Desenho de homem de terno e gravata&#10;&#10;O conteúdo gerado por IA pode estar incorreto.">
            <a:extLst>
              <a:ext uri="{FF2B5EF4-FFF2-40B4-BE49-F238E27FC236}">
                <a16:creationId xmlns:a16="http://schemas.microsoft.com/office/drawing/2014/main" id="{82A5B520-9F73-DE36-5703-F4EE8C80B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875295" y="2520615"/>
            <a:ext cx="3180347" cy="4770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6581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A3508AD4-BC67-ADA7-18A4-2113708C7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522037"/>
              </p:ext>
            </p:extLst>
          </p:nvPr>
        </p:nvGraphicFramePr>
        <p:xfrm>
          <a:off x="1303503" y="1383632"/>
          <a:ext cx="7647992" cy="3508408"/>
        </p:xfrm>
        <a:graphic>
          <a:graphicData uri="http://schemas.openxmlformats.org/drawingml/2006/table">
            <a:tbl>
              <a:tblPr/>
              <a:tblGrid>
                <a:gridCol w="3823996">
                  <a:extLst>
                    <a:ext uri="{9D8B030D-6E8A-4147-A177-3AD203B41FA5}">
                      <a16:colId xmlns:a16="http://schemas.microsoft.com/office/drawing/2014/main" val="182013766"/>
                    </a:ext>
                  </a:extLst>
                </a:gridCol>
                <a:gridCol w="3823996">
                  <a:extLst>
                    <a:ext uri="{9D8B030D-6E8A-4147-A177-3AD203B41FA5}">
                      <a16:colId xmlns:a16="http://schemas.microsoft.com/office/drawing/2014/main" val="1326138222"/>
                    </a:ext>
                  </a:extLst>
                </a:gridCol>
              </a:tblGrid>
              <a:tr h="438551">
                <a:tc>
                  <a:txBody>
                    <a:bodyPr/>
                    <a:lstStyle/>
                    <a:p>
                      <a:r>
                        <a:rPr lang="pt-BR" dirty="0"/>
                        <a:t>Categoria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Custo (USD)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694645"/>
                  </a:ext>
                </a:extLst>
              </a:tr>
              <a:tr h="438551">
                <a:tc>
                  <a:txBody>
                    <a:bodyPr/>
                    <a:lstStyle/>
                    <a:p>
                      <a:r>
                        <a:rPr lang="pt-BR"/>
                        <a:t>Servidores físicos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$3.000.000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7655988"/>
                  </a:ext>
                </a:extLst>
              </a:tr>
              <a:tr h="438551">
                <a:tc>
                  <a:txBody>
                    <a:bodyPr/>
                    <a:lstStyle/>
                    <a:p>
                      <a:r>
                        <a:rPr lang="pt-BR"/>
                        <a:t>Armazenamento SAN/NAS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$1.900.000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437640"/>
                  </a:ext>
                </a:extLst>
              </a:tr>
              <a:tr h="438551">
                <a:tc>
                  <a:txBody>
                    <a:bodyPr/>
                    <a:lstStyle/>
                    <a:p>
                      <a:r>
                        <a:rPr lang="pt-BR"/>
                        <a:t>Infraestrutura e climatização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$800.000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207797"/>
                  </a:ext>
                </a:extLst>
              </a:tr>
              <a:tr h="438551">
                <a:tc>
                  <a:txBody>
                    <a:bodyPr/>
                    <a:lstStyle/>
                    <a:p>
                      <a:r>
                        <a:rPr lang="pt-BR"/>
                        <a:t>Energia elétrica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$1.600.000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9822"/>
                  </a:ext>
                </a:extLst>
              </a:tr>
              <a:tr h="438551">
                <a:tc>
                  <a:txBody>
                    <a:bodyPr/>
                    <a:lstStyle/>
                    <a:p>
                      <a:r>
                        <a:rPr lang="pt-BR"/>
                        <a:t>Segurança física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$700.000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6958920"/>
                  </a:ext>
                </a:extLst>
              </a:tr>
              <a:tr h="438551">
                <a:tc>
                  <a:txBody>
                    <a:bodyPr/>
                    <a:lstStyle/>
                    <a:p>
                      <a:r>
                        <a:rPr lang="pt-BR"/>
                        <a:t>Equipe (5 profissionais)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$3.000.000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28847"/>
                  </a:ext>
                </a:extLst>
              </a:tr>
              <a:tr h="438551">
                <a:tc>
                  <a:txBody>
                    <a:bodyPr/>
                    <a:lstStyle/>
                    <a:p>
                      <a:r>
                        <a:rPr lang="pt-BR" dirty="0"/>
                        <a:t>Manutenção e licenças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$1.500.000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725008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3E5BB637-49A7-0998-C983-345536B9C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5955" y="5237732"/>
            <a:ext cx="31522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 Data Center Físico (10 anos)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🟥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 Total: $12.500.000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77B4684-5D36-0DD5-1200-D3AD42009017}"/>
              </a:ext>
            </a:extLst>
          </p:cNvPr>
          <p:cNvSpPr txBox="1"/>
          <p:nvPr/>
        </p:nvSpPr>
        <p:spPr>
          <a:xfrm>
            <a:off x="1989303" y="564455"/>
            <a:ext cx="708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accent4"/>
                </a:solidFill>
              </a:rPr>
              <a:t>Data Center Físico</a:t>
            </a:r>
          </a:p>
        </p:txBody>
      </p:sp>
      <p:pic>
        <p:nvPicPr>
          <p:cNvPr id="12" name="Imagem 11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DBADE41A-9A84-F2AE-6191-98FF0681F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126" y="2029126"/>
            <a:ext cx="4828874" cy="482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6735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226E1D59-1E4D-9214-7911-CA1F077319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731031"/>
              </p:ext>
            </p:extLst>
          </p:nvPr>
        </p:nvGraphicFramePr>
        <p:xfrm>
          <a:off x="3096209" y="1682002"/>
          <a:ext cx="5999582" cy="3045995"/>
        </p:xfrm>
        <a:graphic>
          <a:graphicData uri="http://schemas.openxmlformats.org/drawingml/2006/table">
            <a:tbl>
              <a:tblPr/>
              <a:tblGrid>
                <a:gridCol w="2999791">
                  <a:extLst>
                    <a:ext uri="{9D8B030D-6E8A-4147-A177-3AD203B41FA5}">
                      <a16:colId xmlns:a16="http://schemas.microsoft.com/office/drawing/2014/main" val="696554942"/>
                    </a:ext>
                  </a:extLst>
                </a:gridCol>
                <a:gridCol w="2999791">
                  <a:extLst>
                    <a:ext uri="{9D8B030D-6E8A-4147-A177-3AD203B41FA5}">
                      <a16:colId xmlns:a16="http://schemas.microsoft.com/office/drawing/2014/main" val="327371408"/>
                    </a:ext>
                  </a:extLst>
                </a:gridCol>
              </a:tblGrid>
              <a:tr h="517759">
                <a:tc>
                  <a:txBody>
                    <a:bodyPr/>
                    <a:lstStyle/>
                    <a:p>
                      <a:r>
                        <a:rPr lang="pt-BR" sz="2400"/>
                        <a:t>Serviço</a:t>
                      </a:r>
                      <a:endParaRPr lang="pt-BR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400"/>
                        <a:t>Custo (USD)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57004"/>
                  </a:ext>
                </a:extLst>
              </a:tr>
              <a:tr h="517759">
                <a:tc>
                  <a:txBody>
                    <a:bodyPr/>
                    <a:lstStyle/>
                    <a:p>
                      <a:r>
                        <a:rPr lang="pt-BR" sz="2400" dirty="0"/>
                        <a:t>Amazon S3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$150.000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705962"/>
                  </a:ext>
                </a:extLst>
              </a:tr>
              <a:tr h="517759">
                <a:tc>
                  <a:txBody>
                    <a:bodyPr/>
                    <a:lstStyle/>
                    <a:p>
                      <a:r>
                        <a:rPr lang="pt-BR" sz="2400" dirty="0"/>
                        <a:t>Amazon Athena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400"/>
                        <a:t>$80.000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765105"/>
                  </a:ext>
                </a:extLst>
              </a:tr>
              <a:tr h="517759">
                <a:tc>
                  <a:txBody>
                    <a:bodyPr/>
                    <a:lstStyle/>
                    <a:p>
                      <a:r>
                        <a:rPr lang="pt-BR" sz="2400"/>
                        <a:t>AWS KMS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400"/>
                        <a:t>$40.000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343728"/>
                  </a:ext>
                </a:extLst>
              </a:tr>
              <a:tr h="517759">
                <a:tc>
                  <a:txBody>
                    <a:bodyPr/>
                    <a:lstStyle/>
                    <a:p>
                      <a:r>
                        <a:rPr lang="pt-BR" sz="2400"/>
                        <a:t>Suporte &amp; Operação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400"/>
                        <a:t>$120.000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728510"/>
                  </a:ext>
                </a:extLst>
              </a:tr>
              <a:tr h="385412">
                <a:tc>
                  <a:txBody>
                    <a:bodyPr/>
                    <a:lstStyle/>
                    <a:p>
                      <a:r>
                        <a:rPr lang="pt-BR" sz="2400" dirty="0"/>
                        <a:t>Transferências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$40.000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927352"/>
                  </a:ext>
                </a:extLst>
              </a:tr>
            </a:tbl>
          </a:graphicData>
        </a:graphic>
      </p:graphicFrame>
      <p:sp>
        <p:nvSpPr>
          <p:cNvPr id="4" name="Rectangle 2">
            <a:extLst>
              <a:ext uri="{FF2B5EF4-FFF2-40B4-BE49-F238E27FC236}">
                <a16:creationId xmlns:a16="http://schemas.microsoft.com/office/drawing/2014/main" id="{D4003CAC-4BEF-85E8-44E9-374ADB4F1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5146" y="532550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Bloco 2 — AWS (10 anos)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🟩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 Total: $430.000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1715D9-4DD9-E1DA-70DB-520189F601E5}"/>
              </a:ext>
            </a:extLst>
          </p:cNvPr>
          <p:cNvSpPr txBox="1"/>
          <p:nvPr/>
        </p:nvSpPr>
        <p:spPr>
          <a:xfrm>
            <a:off x="4215146" y="626260"/>
            <a:ext cx="3922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chemeClr val="accent1">
                    <a:lumMod val="75000"/>
                  </a:schemeClr>
                </a:solidFill>
              </a:rPr>
              <a:t>Amazon</a:t>
            </a:r>
          </a:p>
        </p:txBody>
      </p:sp>
      <p:pic>
        <p:nvPicPr>
          <p:cNvPr id="9" name="Imagem 8" descr="Desenho de rosto&#10;&#10;O conteúdo gerado por IA pode estar incorreto.">
            <a:extLst>
              <a:ext uri="{FF2B5EF4-FFF2-40B4-BE49-F238E27FC236}">
                <a16:creationId xmlns:a16="http://schemas.microsoft.com/office/drawing/2014/main" id="{7E043643-28D9-E109-157F-1314079DEC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218" y="858212"/>
            <a:ext cx="718150" cy="479365"/>
          </a:xfrm>
          <a:prstGeom prst="rect">
            <a:avLst/>
          </a:prstGeom>
        </p:spPr>
      </p:pic>
      <p:pic>
        <p:nvPicPr>
          <p:cNvPr id="11" name="Imagem 10" descr="Homem de terno e gravata com a mão na cabeça&#10;&#10;O conteúdo gerado por IA pode estar incorreto.">
            <a:extLst>
              <a:ext uri="{FF2B5EF4-FFF2-40B4-BE49-F238E27FC236}">
                <a16:creationId xmlns:a16="http://schemas.microsoft.com/office/drawing/2014/main" id="{600204ED-8580-C71A-953D-237C00ED04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836774" y="2979763"/>
            <a:ext cx="5727119" cy="3818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5068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469D9C28-0A92-E7E3-5828-B9BF67D8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3948" y="3438415"/>
            <a:ext cx="713472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Economia total em 10 anos: $12.070.000 (96,5%)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“Com AWS, a Abstergo reduz custos massivamente,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aumenta segurança, escalabilidade e elimina infraestrutura física.”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ECEF1A0-99DC-2D93-4E5D-F62E82BC22E4}"/>
              </a:ext>
            </a:extLst>
          </p:cNvPr>
          <p:cNvSpPr txBox="1"/>
          <p:nvPr/>
        </p:nvSpPr>
        <p:spPr>
          <a:xfrm>
            <a:off x="2983832" y="1576137"/>
            <a:ext cx="41749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Center: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$12.500.000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AWS: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$430.000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97A6261-10FE-B7BC-C7D3-B1E1FF202AFB}"/>
              </a:ext>
            </a:extLst>
          </p:cNvPr>
          <p:cNvSpPr txBox="1"/>
          <p:nvPr/>
        </p:nvSpPr>
        <p:spPr>
          <a:xfrm>
            <a:off x="2719135" y="929032"/>
            <a:ext cx="51856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i="1" dirty="0">
                <a:solidFill>
                  <a:schemeClr val="accent4"/>
                </a:solidFill>
              </a:rPr>
              <a:t>Média de gastos em 10 anos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1B94C5A-2D75-7605-CD1D-5B1F9C2BAE25}"/>
              </a:ext>
            </a:extLst>
          </p:cNvPr>
          <p:cNvSpPr txBox="1"/>
          <p:nvPr/>
        </p:nvSpPr>
        <p:spPr>
          <a:xfrm>
            <a:off x="2310062" y="2792853"/>
            <a:ext cx="55946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i="1" dirty="0">
                <a:solidFill>
                  <a:schemeClr val="accent2"/>
                </a:solidFill>
              </a:rPr>
              <a:t>Média de economia em 10 anos</a:t>
            </a:r>
          </a:p>
        </p:txBody>
      </p:sp>
      <p:pic>
        <p:nvPicPr>
          <p:cNvPr id="8" name="Imagem 7" descr="Desenho de um homem&#10;&#10;O conteúdo gerado por IA pode estar incorreto.">
            <a:extLst>
              <a:ext uri="{FF2B5EF4-FFF2-40B4-BE49-F238E27FC236}">
                <a16:creationId xmlns:a16="http://schemas.microsoft.com/office/drawing/2014/main" id="{1A603482-6572-63B9-89F6-DBF8C789D1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713" y="3542713"/>
            <a:ext cx="3315287" cy="331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837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5D978C99-5156-01CA-047F-5DE9D565B3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669" y="2590800"/>
            <a:ext cx="6319044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8736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203</TotalTime>
  <Words>1538</Words>
  <Application>Microsoft Office PowerPoint</Application>
  <PresentationFormat>Widescreen</PresentationFormat>
  <Paragraphs>174</Paragraphs>
  <Slides>30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6" baseType="lpstr">
      <vt:lpstr>Aptos</vt:lpstr>
      <vt:lpstr>Aptos Narrow</vt:lpstr>
      <vt:lpstr>Arial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hashimoto</dc:creator>
  <cp:lastModifiedBy>diego hashimoto</cp:lastModifiedBy>
  <cp:revision>5</cp:revision>
  <dcterms:created xsi:type="dcterms:W3CDTF">2025-11-27T22:07:07Z</dcterms:created>
  <dcterms:modified xsi:type="dcterms:W3CDTF">2025-11-28T12:01:25Z</dcterms:modified>
</cp:coreProperties>
</file>